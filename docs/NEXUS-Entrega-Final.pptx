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18e1740-4ff6-71dd-414a-66a1878bfbc5}">
          <p14:sldIdLst>
            <p14:sldId id="256"/>
          </p14:sldIdLst>
        </p14:section>
        <p14:section name="Visão geral" id="{4de66c80-9570-7a20-4e6a-1f18eabe79dd}">
          <p14:sldIdLst>
            <p14:sldId id="257"/>
            <p14:sldId id="258"/>
          </p14:sldIdLst>
        </p14:section>
        <p14:section name="Implementações" id="{5c0addd0-e637-e5f4-1992-1f8260f49caa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Entrega" id="{df077755-da1f-9e74-77b3-936d728d024a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Funil</c:v>
                </c:pt>
              </c:strCache>
            </c:strRef>
          </c:tx>
          <c:spPr>
            <a:solidFill>
              <a:srgbClr val="4A4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4A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4B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Alertas brutos</c:v>
                  </c:pt>
                  <c:pt idx="1">
                    <c:v>Únicas</c:v>
                  </c:pt>
                  <c:pt idx="2">
                    <c:v>Acionáveis</c:v>
                  </c:pt>
                  <c:pt idx="3">
                    <c:v>P1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28</c:v>
                </c:pt>
                <c:pt idx="2">
                  <c:v>24</c:v>
                </c:pt>
                <c:pt idx="3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9C9D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Na Sprint 2 apresentamos a definição técnica do NEXUS. Desde a Sprint 3 transformamos a proposta em produto: uma plataforma ASPM funcional, com IA, que roda com um único comando.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módulos da arquitetura estão implementados e integrados. Vale comentar que o deck da Sprint 2 dizia 5 módulos e mostrava 4; agora o quinto, a visão executiva, existe de fato.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Fluxo: relatórios chegam pela ingestão (upload ou curl no pipeline), passam pela correlação, alimentam o grafo de ataque e terminam no score contextual. A IA usa RAG sobre bases públicas, sem treinamento. Stack exatamente como definida na Sprint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tela de ingestão: arrastar um JSON, escolher o ativo, importar. O resultado mostra alertas brutos, novos, consolidados e corrigidos. No CI/CD é um curl.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reais do ambiente de demonstração: 6 relatórios geraram 53 alertas. A correlação deixa 28 únicas e 24 acionáveis; só 7 exigem ação imediata. Exemplos de cada regra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exemplo do slide da Sprint 2 rodando de verdade. A CVE 9.8 interna fica atrás da CVE 6.1 pública no sistema financeiro. Demonstrar ao vivo marcando o serviço como exposto.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grafo liga internet, ativos expostos e dependências. Um caminho só é viável se cada salto tiver falha explorável. Probabilidade: 0,7 x 0,9 = 63%. Mostrar o segundo caminho que aparece ao expor o serviço de relatórios.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 Log4Shell e clicar em Explicar com IA. Destacar: contexto específico do ativo, patch do pom.xml, referências OWASP e ATT&amp;CK, e o aviso de que nada foi aplicado. A IA funciona sem chave graças ao modo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visão executiva responde em segundos o que fazer primeiro. O comparativo Top 5 NEXUS x Top 5 CVSS mostra por que a priorização contextual muda 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Itens obrigatórios da entrega: código no Git com licença BSD-3-Clause, passo a passo de instalação em docs/INSTALACAO.md e ambiente de demonstração NexusBank carregado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com a visão do produto, retomando a frase da Sprint 2, agora comprovada pelo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US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spc="1800" kern="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US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NEXUS · Entrega final do Challenge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NEXU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spc="1800" kern="0" dirty="0">
                <a:solidFill>
                  <a:schemeClr val="bg1"/>
                </a:solidFill>
              </a:rPr>
              <a:t>NEXUS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Entrega final · Implementações desde a Sprint 3</a:t>
            </a:r>
            <a:endParaRPr lang="en-US" sz="1800" dirty="0"/>
          </a:p>
        </p:txBody>
      </p:sp>
      <p:sp>
        <p:nvSpPr>
          <p:cNvPr id="5" name="Selo ASPM"/>
          <p:cNvSpPr/>
          <p:nvPr/>
        </p:nvSpPr>
        <p:spPr>
          <a:xfrm>
            <a:off x="2651760" y="3931920"/>
            <a:ext cx="3840480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3931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chemeClr val="bg2"/>
                </a:solidFill>
              </a:rPr>
              <a:t>APPLICATION SECURITY POSTURE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Da proposta ao produto: os 5 módulos estão no ar</a:t>
            </a:r>
            <a:endParaRPr lang="en-US" sz="3000" dirty="0"/>
          </a:p>
        </p:txBody>
      </p:sp>
      <p:sp>
        <p:nvSpPr>
          <p:cNvPr id="3" name="Card Ingestão"/>
          <p:cNvSpPr/>
          <p:nvPr/>
        </p:nvSpPr>
        <p:spPr>
          <a:xfrm>
            <a:off x="457200" y="1234440"/>
            <a:ext cx="1536192" cy="274320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4" name="Ícone Ingestão círculo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Ícone Ingestã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945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Ingestão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4 scanners normalizados em um modelo único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566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Implementado</a:t>
            </a:r>
            <a:endParaRPr lang="en-US" sz="1100" dirty="0"/>
          </a:p>
        </p:txBody>
      </p:sp>
      <p:sp>
        <p:nvSpPr>
          <p:cNvPr id="9" name="Card Correlação"/>
          <p:cNvSpPr/>
          <p:nvPr/>
        </p:nvSpPr>
        <p:spPr>
          <a:xfrm>
            <a:off x="2130552" y="1234440"/>
            <a:ext cx="1536192" cy="274320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0" name="Ícone Correlação círculo"/>
          <p:cNvSpPr/>
          <p:nvPr/>
        </p:nvSpPr>
        <p:spPr>
          <a:xfrm>
            <a:off x="2313432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cone Correlaçã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1600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13432" y="21945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Correlação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313432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Deduplicação, falsos positivos e SAST + DAST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313432" y="3566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Implementado</a:t>
            </a:r>
            <a:endParaRPr lang="en-US" sz="1100" dirty="0"/>
          </a:p>
        </p:txBody>
      </p:sp>
      <p:sp>
        <p:nvSpPr>
          <p:cNvPr id="15" name="Card Attack Path"/>
          <p:cNvSpPr/>
          <p:nvPr/>
        </p:nvSpPr>
        <p:spPr>
          <a:xfrm>
            <a:off x="3803904" y="1234440"/>
            <a:ext cx="1536192" cy="274320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6" name="Ícone Attack Path círculo"/>
          <p:cNvSpPr/>
          <p:nvPr/>
        </p:nvSpPr>
        <p:spPr>
          <a:xfrm>
            <a:off x="3986784" y="1463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Ícone Attack Pat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16002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86784" y="21945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Attack Path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986784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Grafo até as joias da coroa com probabilidade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986784" y="3566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Implementado</a:t>
            </a:r>
            <a:endParaRPr lang="en-US" sz="1100" dirty="0"/>
          </a:p>
        </p:txBody>
      </p:sp>
      <p:sp>
        <p:nvSpPr>
          <p:cNvPr id="21" name="Card IA + Priorização"/>
          <p:cNvSpPr/>
          <p:nvPr/>
        </p:nvSpPr>
        <p:spPr>
          <a:xfrm>
            <a:off x="5477256" y="1234440"/>
            <a:ext cx="1536192" cy="274320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2" name="Ícone IA + Priorização círculo"/>
          <p:cNvSpPr/>
          <p:nvPr/>
        </p:nvSpPr>
        <p:spPr>
          <a:xfrm>
            <a:off x="5660136" y="14630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Ícone IA + Priorizaçã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16002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60136" y="21945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IA + Priorização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660136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Score contextual e remediação com RAG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660136" y="3566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Implementado</a:t>
            </a:r>
            <a:endParaRPr lang="en-US" sz="1100" dirty="0"/>
          </a:p>
        </p:txBody>
      </p:sp>
      <p:sp>
        <p:nvSpPr>
          <p:cNvPr id="27" name="Card Visão executiva"/>
          <p:cNvSpPr/>
          <p:nvPr/>
        </p:nvSpPr>
        <p:spPr>
          <a:xfrm>
            <a:off x="7150608" y="1234440"/>
            <a:ext cx="1536192" cy="274320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8" name="Ícone Visão executiva círculo"/>
          <p:cNvSpPr/>
          <p:nvPr/>
        </p:nvSpPr>
        <p:spPr>
          <a:xfrm>
            <a:off x="7333488" y="1463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Ícone Visão executiv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160020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33488" y="21945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Visão executiva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333488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Indicadores, histórico e resumo por IA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333488" y="3566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Implementado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Na Sprint 2 o deck citava 5 módulos e listava 4. A entrega final separa o dashboard executivo como quinto módulo.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Arquitetura implementada</a:t>
            </a:r>
            <a:endParaRPr lang="en-US" sz="3000" dirty="0"/>
          </a:p>
        </p:txBody>
      </p:sp>
      <p:sp>
        <p:nvSpPr>
          <p:cNvPr id="3" name="Etapa Scanners"/>
          <p:cNvSpPr/>
          <p:nvPr/>
        </p:nvSpPr>
        <p:spPr>
          <a:xfrm>
            <a:off x="457200" y="118872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98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Scanners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Trivy · Snyk · ZAP · SonarQube</a:t>
            </a:r>
            <a:endParaRPr lang="en-US" sz="1050" dirty="0"/>
          </a:p>
        </p:txBody>
      </p:sp>
      <p:sp>
        <p:nvSpPr>
          <p:cNvPr id="6" name="Seta 1"/>
          <p:cNvSpPr/>
          <p:nvPr/>
        </p:nvSpPr>
        <p:spPr>
          <a:xfrm>
            <a:off x="1947672" y="1536192"/>
            <a:ext cx="18288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Etapa Ingestão"/>
          <p:cNvSpPr/>
          <p:nvPr/>
        </p:nvSpPr>
        <p:spPr>
          <a:xfrm>
            <a:off x="2157984" y="11887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67712" y="1298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Ingestão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16276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parsers + detecção</a:t>
            </a:r>
            <a:endParaRPr lang="en-US" sz="1050" dirty="0"/>
          </a:p>
        </p:txBody>
      </p:sp>
      <p:sp>
        <p:nvSpPr>
          <p:cNvPr id="10" name="Seta 2"/>
          <p:cNvSpPr/>
          <p:nvPr/>
        </p:nvSpPr>
        <p:spPr>
          <a:xfrm>
            <a:off x="3648456" y="1536192"/>
            <a:ext cx="18288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Etapa Correlação"/>
          <p:cNvSpPr/>
          <p:nvPr/>
        </p:nvSpPr>
        <p:spPr>
          <a:xfrm>
            <a:off x="3858768" y="11887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8496" y="1298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Correlação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68496" y="16276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dedup · FP · SAST+DAST</a:t>
            </a:r>
            <a:endParaRPr lang="en-US" sz="1050" dirty="0"/>
          </a:p>
        </p:txBody>
      </p:sp>
      <p:sp>
        <p:nvSpPr>
          <p:cNvPr id="14" name="Seta 3"/>
          <p:cNvSpPr/>
          <p:nvPr/>
        </p:nvSpPr>
        <p:spPr>
          <a:xfrm>
            <a:off x="5349240" y="1536192"/>
            <a:ext cx="18288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Etapa Attack Path"/>
          <p:cNvSpPr/>
          <p:nvPr/>
        </p:nvSpPr>
        <p:spPr>
          <a:xfrm>
            <a:off x="5559552" y="11887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1298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Attack Path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16276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grafo de ataque</a:t>
            </a:r>
            <a:endParaRPr lang="en-US" sz="1050" dirty="0"/>
          </a:p>
        </p:txBody>
      </p:sp>
      <p:sp>
        <p:nvSpPr>
          <p:cNvPr id="18" name="Seta 4"/>
          <p:cNvSpPr/>
          <p:nvPr/>
        </p:nvSpPr>
        <p:spPr>
          <a:xfrm>
            <a:off x="7050024" y="1536192"/>
            <a:ext cx="18288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Etapa Priorização"/>
          <p:cNvSpPr/>
          <p:nvPr/>
        </p:nvSpPr>
        <p:spPr>
          <a:xfrm>
            <a:off x="7260336" y="11887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70064" y="1298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Priorização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70064" y="16276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score 0–100</a:t>
            </a:r>
            <a:endParaRPr lang="en-US" sz="1050" dirty="0"/>
          </a:p>
        </p:txBody>
      </p:sp>
      <p:sp>
        <p:nvSpPr>
          <p:cNvPr id="22" name="Bloco IA RAG"/>
          <p:cNvSpPr/>
          <p:nvPr/>
        </p:nvSpPr>
        <p:spPr>
          <a:xfrm>
            <a:off x="457200" y="2377440"/>
            <a:ext cx="40690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24871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IA (RAG)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consulta CWE, OWASP Top 10, MITRE ATT&amp;CK e CISA KEV; GPT-4o, Llama 3/Mistral ou offline</a:t>
            </a:r>
            <a:endParaRPr lang="en-US" sz="1200" dirty="0"/>
          </a:p>
        </p:txBody>
      </p:sp>
      <p:sp>
        <p:nvSpPr>
          <p:cNvPr id="24" name="Bloco dados e dashboard"/>
          <p:cNvSpPr/>
          <p:nvPr/>
        </p:nvSpPr>
        <p:spPr>
          <a:xfrm>
            <a:off x="4617720" y="2377440"/>
            <a:ext cx="40690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82312" y="24871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PostgreSQL + Dashboard React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histórico de risco, triagem, exportação CSV e API REST documentada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6"/>
                </a:solidFill>
              </a:rPr>
              <a:t>STACK</a:t>
            </a:r>
            <a:endParaRPr lang="en-US" sz="1000" dirty="0"/>
          </a:p>
        </p:txBody>
      </p:sp>
      <p:sp>
        <p:nvSpPr>
          <p:cNvPr id="27" name="Stack Python + FastAPI"/>
          <p:cNvSpPr/>
          <p:nvPr/>
        </p:nvSpPr>
        <p:spPr>
          <a:xfrm>
            <a:off x="457200" y="3749040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pic>
        <p:nvPicPr>
          <p:cNvPr id="28" name="Ícone Python + FastAP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904488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932688" y="3749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Python + FastAPI</a:t>
            </a:r>
            <a:endParaRPr lang="en-US" sz="1150" dirty="0"/>
          </a:p>
        </p:txBody>
      </p:sp>
      <p:sp>
        <p:nvSpPr>
          <p:cNvPr id="30" name="Stack React + Tailwind"/>
          <p:cNvSpPr/>
          <p:nvPr/>
        </p:nvSpPr>
        <p:spPr>
          <a:xfrm>
            <a:off x="2157984" y="3749040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pic>
        <p:nvPicPr>
          <p:cNvPr id="31" name="Ícone React + Tailwin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3904488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2633472" y="3749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React + Tailwind</a:t>
            </a:r>
            <a:endParaRPr lang="en-US" sz="1150" dirty="0"/>
          </a:p>
        </p:txBody>
      </p:sp>
      <p:sp>
        <p:nvSpPr>
          <p:cNvPr id="33" name="Stack PostgreSQL 16"/>
          <p:cNvSpPr/>
          <p:nvPr/>
        </p:nvSpPr>
        <p:spPr>
          <a:xfrm>
            <a:off x="3858768" y="3749040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pic>
        <p:nvPicPr>
          <p:cNvPr id="34" name="Ícone PostgreSQL 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3904488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4334256" y="3749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PostgreSQL 16</a:t>
            </a:r>
            <a:endParaRPr lang="en-US" sz="1150" dirty="0"/>
          </a:p>
        </p:txBody>
      </p:sp>
      <p:sp>
        <p:nvSpPr>
          <p:cNvPr id="36" name="Stack Docker + K8s"/>
          <p:cNvSpPr/>
          <p:nvPr/>
        </p:nvSpPr>
        <p:spPr>
          <a:xfrm>
            <a:off x="5559552" y="3749040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pic>
        <p:nvPicPr>
          <p:cNvPr id="37" name="Ícone Docker + K8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904488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035040" y="3749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Docker + K8s</a:t>
            </a:r>
            <a:endParaRPr lang="en-US" sz="1150" dirty="0"/>
          </a:p>
        </p:txBody>
      </p:sp>
      <p:sp>
        <p:nvSpPr>
          <p:cNvPr id="39" name="Stack GPT-4o · Llama 3"/>
          <p:cNvSpPr/>
          <p:nvPr/>
        </p:nvSpPr>
        <p:spPr>
          <a:xfrm>
            <a:off x="7260336" y="3749040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pic>
        <p:nvPicPr>
          <p:cNvPr id="40" name="Ícone GPT-4o · Llama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3904488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7735824" y="3749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GPT-4o · Llama 3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Central de ingestão: qualquer scanner, um padrão</a:t>
            </a:r>
            <a:endParaRPr lang="en-US" sz="3000" dirty="0"/>
          </a:p>
        </p:txBody>
      </p:sp>
      <p:sp>
        <p:nvSpPr>
          <p:cNvPr id="3" name="Tela de ingestão moldura"/>
          <p:cNvSpPr/>
          <p:nvPr/>
        </p:nvSpPr>
        <p:spPr>
          <a:xfrm>
            <a:off x="420624" y="1197864"/>
            <a:ext cx="4599432" cy="3017520"/>
          </a:xfrm>
          <a:prstGeom prst="roundRect">
            <a:avLst>
              <a:gd name="adj" fmla="val 1818"/>
            </a:avLst>
          </a:prstGeom>
          <a:solidFill>
            <a:srgbClr val="2A2A36"/>
          </a:solidFill>
          <a:ln w="12700">
            <a:solidFill>
              <a:srgbClr val="2A2A36"/>
            </a:solidFill>
            <a:prstDash val="solid"/>
          </a:ln>
        </p:spPr>
      </p:sp>
      <p:pic>
        <p:nvPicPr>
          <p:cNvPr id="4" name="Tela de ingestão" descr="/tmp/claude-0/deck/ingestao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526280" cy="2944368"/>
          </a:xfrm>
          <a:prstGeom prst="rect">
            <a:avLst/>
          </a:prstGeom>
        </p:spPr>
      </p:pic>
      <p:sp>
        <p:nvSpPr>
          <p:cNvPr id="5" name="Scanner Trivy"/>
          <p:cNvSpPr/>
          <p:nvPr/>
        </p:nvSpPr>
        <p:spPr>
          <a:xfrm>
            <a:off x="5303520" y="109728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4068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Trivy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 + container</a:t>
            </a:r>
            <a:endParaRPr lang="en-US" sz="1200" dirty="0"/>
          </a:p>
        </p:txBody>
      </p:sp>
      <p:sp>
        <p:nvSpPr>
          <p:cNvPr id="8" name="Scanner Snyk"/>
          <p:cNvSpPr/>
          <p:nvPr/>
        </p:nvSpPr>
        <p:spPr>
          <a:xfrm>
            <a:off x="5303520" y="155448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4068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Snyk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</a:t>
            </a:r>
            <a:endParaRPr lang="en-US" sz="1200" dirty="0"/>
          </a:p>
        </p:txBody>
      </p:sp>
      <p:sp>
        <p:nvSpPr>
          <p:cNvPr id="11" name="Scanner OWASP ZAP"/>
          <p:cNvSpPr/>
          <p:nvPr/>
        </p:nvSpPr>
        <p:spPr>
          <a:xfrm>
            <a:off x="5303520" y="201168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406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OWASP ZAP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DAST</a:t>
            </a:r>
            <a:endParaRPr lang="en-US" sz="1200" dirty="0"/>
          </a:p>
        </p:txBody>
      </p:sp>
      <p:sp>
        <p:nvSpPr>
          <p:cNvPr id="14" name="Scanner SonarQube"/>
          <p:cNvSpPr/>
          <p:nvPr/>
        </p:nvSpPr>
        <p:spPr>
          <a:xfrm>
            <a:off x="5303520" y="246888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068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SonarQube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SAST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0" y="2971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Formato detectado automaticamente pelo JSON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Upload no dashboard ou via API no pipeline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Reimportar detecta correções sozinho</a:t>
            </a:r>
            <a:endParaRPr lang="en-US" sz="1300" dirty="0"/>
          </a:p>
        </p:txBody>
      </p:sp>
      <p:sp>
        <p:nvSpPr>
          <p:cNvPr id="18" name="Exemplo CI/CD"/>
          <p:cNvSpPr/>
          <p:nvPr/>
        </p:nvSpPr>
        <p:spPr>
          <a:xfrm>
            <a:off x="5303520" y="39776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0B0B1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13248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 "file=@trivy.json" -F "asset_id=2" http://nexus:8000/api/imports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Correlação: 53 alertas viram 7 decisões imediatas</a:t>
            </a:r>
            <a:endParaRPr lang="en-US" sz="3000" dirty="0"/>
          </a:p>
        </p:txBody>
      </p:sp>
      <p:graphicFrame>
        <p:nvGraphicFramePr>
          <p:cNvPr id="3" name="Funil de correlação" descr=""/>
          <p:cNvGraphicFramePr/>
          <p:nvPr/>
        </p:nvGraphicFramePr>
        <p:xfrm>
          <a:off x="457200" y="1051560"/>
          <a:ext cx="4572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78BFA"/>
                </a:solidFill>
              </a:rPr>
              <a:t>54,7%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 de redução de ruído</a:t>
            </a:r>
            <a:endParaRPr lang="en-US" sz="1400" dirty="0"/>
          </a:p>
        </p:txBody>
      </p:sp>
      <p:sp>
        <p:nvSpPr>
          <p:cNvPr id="5" name="Exemplo 1"/>
          <p:cNvSpPr/>
          <p:nvPr/>
        </p:nvSpPr>
        <p:spPr>
          <a:xfrm>
            <a:off x="5349240" y="1097280"/>
            <a:ext cx="33375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Ícone exemplo 1 círculo"/>
          <p:cNvSpPr/>
          <p:nvPr/>
        </p:nvSpPr>
        <p:spPr>
          <a:xfrm>
            <a:off x="5486400" y="1252728"/>
            <a:ext cx="420624" cy="420624"/>
          </a:xfrm>
          <a:prstGeom prst="ellipse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</p:sp>
      <p:pic>
        <p:nvPicPr>
          <p:cNvPr id="7" name="Ícone exemplo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6" y="1357884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3504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Log4Shell no Trivy e no Snyk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5 ocorrências viram 1 vulnerabilidade</a:t>
            </a:r>
            <a:endParaRPr lang="en-US" sz="1150" dirty="0"/>
          </a:p>
        </p:txBody>
      </p:sp>
      <p:sp>
        <p:nvSpPr>
          <p:cNvPr id="10" name="Exemplo 2"/>
          <p:cNvSpPr/>
          <p:nvPr/>
        </p:nvSpPr>
        <p:spPr>
          <a:xfrm>
            <a:off x="5349240" y="1965960"/>
            <a:ext cx="33375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1" name="Ícone exemplo 2 círculo"/>
          <p:cNvSpPr/>
          <p:nvPr/>
        </p:nvSpPr>
        <p:spPr>
          <a:xfrm>
            <a:off x="5486400" y="2121408"/>
            <a:ext cx="420624" cy="420624"/>
          </a:xfrm>
          <a:prstGeom prst="ellipse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</p:sp>
      <p:pic>
        <p:nvPicPr>
          <p:cNvPr id="12" name="Ícone exemplo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56" y="222656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350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CSP ausente em 5 URLs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2350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problema de configuração único</a:t>
            </a:r>
            <a:endParaRPr lang="en-US" sz="1150" dirty="0"/>
          </a:p>
        </p:txBody>
      </p:sp>
      <p:sp>
        <p:nvSpPr>
          <p:cNvPr id="15" name="Exemplo 3"/>
          <p:cNvSpPr/>
          <p:nvPr/>
        </p:nvSpPr>
        <p:spPr>
          <a:xfrm>
            <a:off x="5349240" y="2834640"/>
            <a:ext cx="33375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6" name="Ícone exemplo 3 círculo"/>
          <p:cNvSpPr/>
          <p:nvPr/>
        </p:nvSpPr>
        <p:spPr>
          <a:xfrm>
            <a:off x="5486400" y="29900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Ícone exemplo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556" y="3095244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350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SQL Injection no SonarQube e no ZAP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035040" y="3218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confirmada por SAST e DAST (+5 pts)</a:t>
            </a:r>
            <a:endParaRPr lang="en-US" sz="1150" dirty="0"/>
          </a:p>
        </p:txBody>
      </p:sp>
      <p:sp>
        <p:nvSpPr>
          <p:cNvPr id="20" name="Exemplo 4"/>
          <p:cNvSpPr/>
          <p:nvPr/>
        </p:nvSpPr>
        <p:spPr>
          <a:xfrm>
            <a:off x="5349240" y="3703320"/>
            <a:ext cx="33375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1" name="Ícone exemplo 4 círculo"/>
          <p:cNvSpPr/>
          <p:nvPr/>
        </p:nvSpPr>
        <p:spPr>
          <a:xfrm>
            <a:off x="5486400" y="3858768"/>
            <a:ext cx="420624" cy="420624"/>
          </a:xfrm>
          <a:prstGeom prst="ellipse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</p:sp>
      <p:pic>
        <p:nvPicPr>
          <p:cNvPr id="22" name="Ícone exemplo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396392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03504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 prováveis falsos positivos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035040" y="4087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código de teste e baixa confiança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Priorização por risco real, não só por CVSS</a:t>
            </a:r>
            <a:endParaRPr lang="en-US" sz="3000" dirty="0"/>
          </a:p>
        </p:txBody>
      </p:sp>
      <p:sp>
        <p:nvSpPr>
          <p:cNvPr id="3" name="Comparação Text4Shell · CVE-2022-42889"/>
          <p:cNvSpPr/>
          <p:nvPr/>
        </p:nvSpPr>
        <p:spPr>
          <a:xfrm>
            <a:off x="457200" y="1097280"/>
            <a:ext cx="420624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Text4Shell · CVE-2022-42889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CVSS 9.8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servico-relatorios: interno, criticidade 2/5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2070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dirty="0">
                <a:solidFill>
                  <a:schemeClr val="accent4"/>
                </a:solidFill>
              </a:rPr>
              <a:t>58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874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score · P2</a:t>
            </a:r>
            <a:endParaRPr lang="en-US" sz="1200" dirty="0"/>
          </a:p>
        </p:txBody>
      </p:sp>
      <p:sp>
        <p:nvSpPr>
          <p:cNvPr id="9" name="Comparação jQuery · CVE-2020-11022"/>
          <p:cNvSpPr/>
          <p:nvPr/>
        </p:nvSpPr>
        <p:spPr>
          <a:xfrm>
            <a:off x="457200" y="2514600"/>
            <a:ext cx="420624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jQuery · CVE-2020-11022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CVSS 6.1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portal-clientes: exposto, internet banking 5/5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62432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dirty="0">
                <a:solidFill>
                  <a:schemeClr val="accent3"/>
                </a:solidFill>
              </a:rPr>
              <a:t>79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score · P1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</a:rPr>
              <a:t>Exponha o serviço interno à internet na tela de ativos e o Text4Shell sobe para 78 (P1) na hora.</a:t>
            </a:r>
            <a:endParaRPr lang="en-US" sz="1200" dirty="0"/>
          </a:p>
        </p:txBody>
      </p:sp>
      <p:graphicFrame>
        <p:nvGraphicFramePr>
          <p:cNvPr id="7" name="Tabela de fat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97280"/>
          <a:ext cx="37490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Fator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Pontos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Severidade técnica (CVSS × 4)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até 40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Explorabilidade (CISA KEV / exploit público)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até 20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Exposição (internet / alcançável)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até 20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Impacto no negócio (criticidade + dados)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até 20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Confirmação SAST + DAST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+5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Viabiliza caminho de ataque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+5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Ambiente / provável falso positivo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× fator</a:t>
                      </a:r>
                      <a:endParaRPr lang="en-US" sz="11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93776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P1 ≥ 75 · P2 ≥ 55 · P3 ≥ 35 · P4 &lt; 35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Cada vulnerabilidade mostra no dashboard quais fatores somaram seus pontos.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Attack Path: o caminho até o banco de dados</a:t>
            </a:r>
            <a:endParaRPr lang="en-US" sz="3000" dirty="0"/>
          </a:p>
        </p:txBody>
      </p:sp>
      <p:sp>
        <p:nvSpPr>
          <p:cNvPr id="3" name="Grafo de ataque moldura"/>
          <p:cNvSpPr/>
          <p:nvPr/>
        </p:nvSpPr>
        <p:spPr>
          <a:xfrm>
            <a:off x="420624" y="1060704"/>
            <a:ext cx="8302752" cy="2130552"/>
          </a:xfrm>
          <a:prstGeom prst="roundRect">
            <a:avLst>
              <a:gd name="adj" fmla="val 2575"/>
            </a:avLst>
          </a:prstGeom>
          <a:solidFill>
            <a:srgbClr val="2A2A36"/>
          </a:solidFill>
          <a:ln w="12700">
            <a:solidFill>
              <a:srgbClr val="2A2A36"/>
            </a:solidFill>
            <a:prstDash val="solid"/>
          </a:ln>
        </p:spPr>
      </p:sp>
      <p:pic>
        <p:nvPicPr>
          <p:cNvPr id="4" name="Grafo de ataque" descr="/tmp/claude-0/deck/gra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057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337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accent3"/>
                </a:solidFill>
              </a:rPr>
              <a:t>63%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probabilidade de comprometimento</a:t>
            </a:r>
            <a:endParaRPr lang="en-US" sz="1200" dirty="0"/>
          </a:p>
        </p:txBody>
      </p:sp>
      <p:sp>
        <p:nvSpPr>
          <p:cNvPr id="7" name="Salto 1"/>
          <p:cNvSpPr/>
          <p:nvPr/>
        </p:nvSpPr>
        <p:spPr>
          <a:xfrm>
            <a:off x="2743200" y="3429000"/>
            <a:ext cx="329184" cy="329184"/>
          </a:xfrm>
          <a:prstGeom prst="ellipse">
            <a:avLst/>
          </a:prstGeom>
          <a:solidFill>
            <a:srgbClr val="3A1420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182112" y="3410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portal-clientes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182112" y="36850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jQuery com exploit público · 70%</a:t>
            </a:r>
            <a:endParaRPr lang="en-US" sz="1100" dirty="0"/>
          </a:p>
        </p:txBody>
      </p:sp>
      <p:sp>
        <p:nvSpPr>
          <p:cNvPr id="11" name="Salto 2"/>
          <p:cNvSpPr/>
          <p:nvPr/>
        </p:nvSpPr>
        <p:spPr>
          <a:xfrm>
            <a:off x="4754880" y="3429000"/>
            <a:ext cx="329184" cy="329184"/>
          </a:xfrm>
          <a:prstGeom prst="ellipse">
            <a:avLst/>
          </a:prstGeom>
          <a:solidFill>
            <a:srgbClr val="3A1420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193792" y="3410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api-pagamentos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193792" y="36850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Log4Shell no CISA KEV · 90%</a:t>
            </a:r>
            <a:endParaRPr lang="en-US" sz="1100" dirty="0"/>
          </a:p>
        </p:txBody>
      </p:sp>
      <p:sp>
        <p:nvSpPr>
          <p:cNvPr id="15" name="Salto 3"/>
          <p:cNvSpPr/>
          <p:nvPr/>
        </p:nvSpPr>
        <p:spPr>
          <a:xfrm>
            <a:off x="6766560" y="34290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205472" y="3410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db-transacoes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205472" y="36850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dados restritos (joia da coroa)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743200" y="4206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</a:rPr>
              <a:t>Corrigir qualquer salto quebra o caminho inteiro.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IA de remediação com RAG: recomenda, não aplica</a:t>
            </a:r>
            <a:endParaRPr lang="en-US" sz="3000" dirty="0"/>
          </a:p>
        </p:txBody>
      </p:sp>
      <p:sp>
        <p:nvSpPr>
          <p:cNvPr id="3" name="Explicação da IA moldura"/>
          <p:cNvSpPr/>
          <p:nvPr/>
        </p:nvSpPr>
        <p:spPr>
          <a:xfrm>
            <a:off x="420624" y="1060704"/>
            <a:ext cx="2816352" cy="3584448"/>
          </a:xfrm>
          <a:prstGeom prst="roundRect">
            <a:avLst>
              <a:gd name="adj" fmla="val 1948"/>
            </a:avLst>
          </a:prstGeom>
          <a:solidFill>
            <a:srgbClr val="2A2A36"/>
          </a:solidFill>
          <a:ln w="12700">
            <a:solidFill>
              <a:srgbClr val="2A2A36"/>
            </a:solidFill>
            <a:prstDash val="solid"/>
          </a:ln>
        </p:spPr>
      </p:sp>
      <p:pic>
        <p:nvPicPr>
          <p:cNvPr id="4" name="Explicação da IA" descr="/tmp/claude-0/deck/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743200" cy="3511296"/>
          </a:xfrm>
          <a:prstGeom prst="rect">
            <a:avLst/>
          </a:prstGeom>
        </p:spPr>
      </p:pic>
      <p:sp>
        <p:nvSpPr>
          <p:cNvPr id="5" name="RAG passo 1"/>
          <p:cNvSpPr/>
          <p:nvPr/>
        </p:nvSpPr>
        <p:spPr>
          <a:xfrm>
            <a:off x="36576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1078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Recupera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1353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CWE, OWASP Top 10, MITRE ATT&amp;CK e CISA KEV da base local</a:t>
            </a:r>
            <a:endParaRPr lang="en-US" sz="1200" dirty="0"/>
          </a:p>
        </p:txBody>
      </p:sp>
      <p:sp>
        <p:nvSpPr>
          <p:cNvPr id="9" name="RAG passo 2"/>
          <p:cNvSpPr/>
          <p:nvPr/>
        </p:nvSpPr>
        <p:spPr>
          <a:xfrm>
            <a:off x="3657600" y="1810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576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7922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Contextualiza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20665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ativo, exposição, score e fatores de risco</a:t>
            </a:r>
            <a:endParaRPr lang="en-US" sz="1200" dirty="0"/>
          </a:p>
        </p:txBody>
      </p:sp>
      <p:sp>
        <p:nvSpPr>
          <p:cNvPr id="13" name="RAG passo 3"/>
          <p:cNvSpPr/>
          <p:nvPr/>
        </p:nvSpPr>
        <p:spPr>
          <a:xfrm>
            <a:off x="3657600" y="25237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5760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25054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Gera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7797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 que é, por que é perigosa aqui, cenário, correção e código seguro</a:t>
            </a:r>
            <a:endParaRPr lang="en-US" sz="1200" dirty="0"/>
          </a:p>
        </p:txBody>
      </p:sp>
      <p:sp>
        <p:nvSpPr>
          <p:cNvPr id="17" name="Modo OpenAI"/>
          <p:cNvSpPr/>
          <p:nvPr/>
        </p:nvSpPr>
        <p:spPr>
          <a:xfrm>
            <a:off x="3657600" y="333756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85616" y="3410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OpenAI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785616" y="3685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GPT-4o / GPT-4.1</a:t>
            </a:r>
            <a:endParaRPr lang="en-US" sz="1100" dirty="0"/>
          </a:p>
        </p:txBody>
      </p:sp>
      <p:sp>
        <p:nvSpPr>
          <p:cNvPr id="20" name="Modo Local"/>
          <p:cNvSpPr/>
          <p:nvPr/>
        </p:nvSpPr>
        <p:spPr>
          <a:xfrm>
            <a:off x="5358384" y="333756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0" y="3410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Local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0" y="3685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Llama 3 / Mistral</a:t>
            </a:r>
            <a:endParaRPr lang="en-US" sz="1100" dirty="0"/>
          </a:p>
        </p:txBody>
      </p:sp>
      <p:sp>
        <p:nvSpPr>
          <p:cNvPr id="23" name="Modo Offline"/>
          <p:cNvSpPr/>
          <p:nvPr/>
        </p:nvSpPr>
        <p:spPr>
          <a:xfrm>
            <a:off x="7059168" y="333756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87184" y="3410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Offline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187184" y="3685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base local, sem rede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365760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Se a LLM falhar, a resposta cai para o modo offline e avisa. Patch de dependência gerado para Maven, npm, pip e imagens.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Visão executiva para a liderança</a:t>
            </a:r>
            <a:endParaRPr lang="en-US" sz="3000" dirty="0"/>
          </a:p>
        </p:txBody>
      </p:sp>
      <p:sp>
        <p:nvSpPr>
          <p:cNvPr id="3" name="Dashboard executivo moldura"/>
          <p:cNvSpPr/>
          <p:nvPr/>
        </p:nvSpPr>
        <p:spPr>
          <a:xfrm>
            <a:off x="420624" y="1060704"/>
            <a:ext cx="5010912" cy="3008376"/>
          </a:xfrm>
          <a:prstGeom prst="roundRect">
            <a:avLst>
              <a:gd name="adj" fmla="val 1824"/>
            </a:avLst>
          </a:prstGeom>
          <a:solidFill>
            <a:srgbClr val="2A2A36"/>
          </a:solidFill>
          <a:ln w="12700">
            <a:solidFill>
              <a:srgbClr val="2A2A36"/>
            </a:solidFill>
            <a:prstDash val="solid"/>
          </a:ln>
        </p:spPr>
      </p:sp>
      <p:pic>
        <p:nvPicPr>
          <p:cNvPr id="4" name="Dashboard executivo" descr="/tmp/claude-0/deck/dash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935224"/>
          </a:xfrm>
          <a:prstGeom prst="rect">
            <a:avLst/>
          </a:prstGeom>
        </p:spPr>
      </p:pic>
      <p:sp>
        <p:nvSpPr>
          <p:cNvPr id="5" name="Resumo executivo por IA moldura"/>
          <p:cNvSpPr/>
          <p:nvPr/>
        </p:nvSpPr>
        <p:spPr>
          <a:xfrm>
            <a:off x="5815584" y="1060704"/>
            <a:ext cx="2907792" cy="2514600"/>
          </a:xfrm>
          <a:prstGeom prst="roundRect">
            <a:avLst>
              <a:gd name="adj" fmla="val 2182"/>
            </a:avLst>
          </a:prstGeom>
          <a:solidFill>
            <a:srgbClr val="2A2A36"/>
          </a:solidFill>
          <a:ln w="12700">
            <a:solidFill>
              <a:srgbClr val="2A2A36"/>
            </a:solidFill>
            <a:prstDash val="solid"/>
          </a:ln>
        </p:spPr>
      </p:sp>
      <p:pic>
        <p:nvPicPr>
          <p:cNvPr id="6" name="Resumo executivo por IA" descr="/tmp/claude-0/deck/resu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834640" cy="24414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KPIs de P1, CISA KEV, caminhos e MTTR · Top 5 NEXUS × Top 5 CVSS · histórico de risco · exportação CSV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85216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</a:rPr>
              <a:t>Resumo para a diretoria em um clique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Pronto para rodar em qualquer infraestrutura</a:t>
            </a:r>
            <a:endParaRPr lang="en-US" sz="3000" dirty="0"/>
          </a:p>
        </p:txBody>
      </p:sp>
      <p:sp>
        <p:nvSpPr>
          <p:cNvPr id="3" name="Item docker compose up"/>
          <p:cNvSpPr/>
          <p:nvPr/>
        </p:nvSpPr>
        <p:spPr>
          <a:xfrm>
            <a:off x="457200" y="11430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4" name="Ícone docker compose up círculo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Ícone docker compose u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docker compose up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PostgreSQL, API e dashboard com um comando</a:t>
            </a:r>
            <a:endParaRPr lang="en-US" sz="1100" dirty="0"/>
          </a:p>
        </p:txBody>
      </p:sp>
      <p:sp>
        <p:nvSpPr>
          <p:cNvPr id="8" name="Item 25 testes automatizados"/>
          <p:cNvSpPr/>
          <p:nvPr/>
        </p:nvSpPr>
        <p:spPr>
          <a:xfrm>
            <a:off x="3246120" y="11430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9" name="Ícone 25 testes automatizados círculo"/>
          <p:cNvSpPr/>
          <p:nvPr/>
        </p:nvSpPr>
        <p:spPr>
          <a:xfrm>
            <a:off x="3429000" y="132588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0" name="Ícone 25 testes automatizado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4516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25 testes automatizados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parsers, correlação, score, grafo, IA e API</a:t>
            </a:r>
            <a:endParaRPr lang="en-US" sz="1100" dirty="0"/>
          </a:p>
        </p:txBody>
      </p:sp>
      <p:sp>
        <p:nvSpPr>
          <p:cNvPr id="13" name="Item Kubernetes"/>
          <p:cNvSpPr/>
          <p:nvPr/>
        </p:nvSpPr>
        <p:spPr>
          <a:xfrm>
            <a:off x="6035040" y="11430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4" name="Ícone Kubernetes círculo"/>
          <p:cNvSpPr/>
          <p:nvPr/>
        </p:nvSpPr>
        <p:spPr>
          <a:xfrm>
            <a:off x="621792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Ícone Kubernet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4516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Kubernetes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manifesto de referência em k8s/</a:t>
            </a:r>
            <a:endParaRPr lang="en-US" sz="1100" dirty="0"/>
          </a:p>
        </p:txBody>
      </p:sp>
      <p:sp>
        <p:nvSpPr>
          <p:cNvPr id="18" name="Item PostgreSQL validado"/>
          <p:cNvSpPr/>
          <p:nvPr/>
        </p:nvSpPr>
        <p:spPr>
          <a:xfrm>
            <a:off x="457200" y="27432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9" name="Ícone PostgreSQL validado círculo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Ícone PostgreSQL validad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0518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 validado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SQLite para desenvolvimento local</a:t>
            </a:r>
            <a:endParaRPr lang="en-US" sz="1100" dirty="0"/>
          </a:p>
        </p:txBody>
      </p:sp>
      <p:sp>
        <p:nvSpPr>
          <p:cNvPr id="23" name="Item Licença BSD-3-Clause"/>
          <p:cNvSpPr/>
          <p:nvPr/>
        </p:nvSpPr>
        <p:spPr>
          <a:xfrm>
            <a:off x="3246120" y="27432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4" name="Ícone Licença BSD-3-Clause círculo"/>
          <p:cNvSpPr/>
          <p:nvPr/>
        </p:nvSpPr>
        <p:spPr>
          <a:xfrm>
            <a:off x="3429000" y="2926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Ícone Licença BSD-3-Claus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730" y="30518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2900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Licença BSD-3-Clause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LICENSE.md e cabeçalho SPDX em cada arquivo</a:t>
            </a:r>
            <a:endParaRPr lang="en-US" sz="1100" dirty="0"/>
          </a:p>
        </p:txBody>
      </p:sp>
      <p:sp>
        <p:nvSpPr>
          <p:cNvPr id="28" name="Item Seguro por padrão"/>
          <p:cNvSpPr/>
          <p:nvPr/>
        </p:nvSpPr>
        <p:spPr>
          <a:xfrm>
            <a:off x="6035040" y="27432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9" name="Ícone Seguro por padrão círculo"/>
          <p:cNvSpPr/>
          <p:nvPr/>
        </p:nvSpPr>
        <p:spPr>
          <a:xfrm>
            <a:off x="6217920" y="29260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Ícone Seguro por padrã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30518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Seguro por padrão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usuário sem privilégio e cabeçalhos HTTP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Próximos passos</a:t>
            </a:r>
            <a:endParaRPr lang="en-US" sz="3000" dirty="0"/>
          </a:p>
        </p:txBody>
      </p:sp>
      <p:sp>
        <p:nvSpPr>
          <p:cNvPr id="3" name="Linha do tempo"/>
          <p:cNvSpPr/>
          <p:nvPr/>
        </p:nvSpPr>
        <p:spPr>
          <a:xfrm>
            <a:off x="822960" y="1691640"/>
            <a:ext cx="7498080" cy="0"/>
          </a:xfrm>
          <a:prstGeom prst="line">
            <a:avLst/>
          </a:prstGeom>
          <a:noFill/>
          <a:ln w="19050">
            <a:solidFill>
              <a:srgbClr val="2A2A36"/>
            </a:solidFill>
            <a:prstDash val="solid"/>
          </a:ln>
        </p:spPr>
      </p:sp>
      <p:sp>
        <p:nvSpPr>
          <p:cNvPr id="4" name="Ícone Tickets automáticos círculo"/>
          <p:cNvSpPr/>
          <p:nvPr/>
        </p:nvSpPr>
        <p:spPr>
          <a:xfrm>
            <a:off x="594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Ícone Tickets automático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Tickets automáticos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688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abrir P1 direto no Jira e GitHub Issues</a:t>
            </a:r>
            <a:endParaRPr lang="en-US" sz="1200" dirty="0"/>
          </a:p>
        </p:txBody>
      </p:sp>
      <p:sp>
        <p:nvSpPr>
          <p:cNvPr id="8" name="Ícone Inteligência viva círculo"/>
          <p:cNvSpPr/>
          <p:nvPr/>
        </p:nvSpPr>
        <p:spPr>
          <a:xfrm>
            <a:off x="2697480" y="141732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</p:sp>
      <p:pic>
        <p:nvPicPr>
          <p:cNvPr id="9" name="Ícone Inteligência viv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554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60320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Inteligência viva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24688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atualizar KEV diariamente e somar EPSS ao score</a:t>
            </a:r>
            <a:endParaRPr lang="en-US" sz="1200" dirty="0"/>
          </a:p>
        </p:txBody>
      </p:sp>
      <p:sp>
        <p:nvSpPr>
          <p:cNvPr id="12" name="Ícone Multiusuário círculo"/>
          <p:cNvSpPr/>
          <p:nvPr/>
        </p:nvSpPr>
        <p:spPr>
          <a:xfrm>
            <a:off x="4800600" y="141732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</p:sp>
      <p:pic>
        <p:nvPicPr>
          <p:cNvPr id="13" name="Ícone Multiusuári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544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63440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Multiusuário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663440" y="24688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SSO, perfis AppSec, dev e diretoria</a:t>
            </a:r>
            <a:endParaRPr lang="en-US" sz="1200" dirty="0"/>
          </a:p>
        </p:txBody>
      </p:sp>
      <p:sp>
        <p:nvSpPr>
          <p:cNvPr id="16" name="Ícone Reachability círculo"/>
          <p:cNvSpPr/>
          <p:nvPr/>
        </p:nvSpPr>
        <p:spPr>
          <a:xfrm>
            <a:off x="6903720" y="141732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</p:sp>
      <p:pic>
        <p:nvPicPr>
          <p:cNvPr id="17" name="Ícone Reachabilit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5544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66560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Reachability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766560" y="24688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saber se a função vulnerável é realmente chamada</a:t>
            </a:r>
            <a:endParaRPr lang="en-US" sz="1200" dirty="0"/>
          </a:p>
        </p:txBody>
      </p:sp>
      <p:sp>
        <p:nvSpPr>
          <p:cNvPr id="20" name="Mensagem final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B1B26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3520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O NEXUS não mostra apenas vulnerabilidades: mostra quais riscos realmente importam, como podem ser explorados, qual impacto causariam e como corrigir rapidamente.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US Dark">
  <a:themeElements>
    <a:clrScheme name="NEXUS Dark">
      <a:dk1>
        <a:srgbClr val="07070B"/>
      </a:dk1>
      <a:lt1>
        <a:srgbClr val="FFFFFF"/>
      </a:lt1>
      <a:dk2>
        <a:srgbClr val="13131B"/>
      </a:dk2>
      <a:lt2>
        <a:srgbClr val="C9C9D6"/>
      </a:lt2>
      <a:accent1>
        <a:srgbClr val="7C3AED"/>
      </a:accent1>
      <a:accent2>
        <a:srgbClr val="3B82F6"/>
      </a:accent2>
      <a:accent3>
        <a:srgbClr val="F43F5E"/>
      </a:accent3>
      <a:accent4>
        <a:srgbClr val="FB923C"/>
      </a:accent4>
      <a:accent5>
        <a:srgbClr val="22D3EE"/>
      </a:accent5>
      <a:accent6>
        <a:srgbClr val="8B8B9E"/>
      </a:accent6>
      <a:hlink>
        <a:srgbClr val="A78BFA"/>
      </a:hlink>
      <a:folHlink>
        <a:srgbClr val="60A5FA"/>
      </a:folHlink>
    </a:clrScheme>
    <a:fontScheme name="NEXUS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- Entrega final do Challenge</dc:title>
  <dc:subject>Implementações desde a Sprint 3</dc:subject>
  <dc:creator>Equipe NEXUS</dc:creator>
  <cp:lastModifiedBy>Equipe NEXUS</cp:lastModifiedBy>
  <cp:revision>1</cp:revision>
  <dcterms:created xsi:type="dcterms:W3CDTF">2026-10-05T18:28:10Z</dcterms:created>
  <dcterms:modified xsi:type="dcterms:W3CDTF">2026-10-05T18:28:10Z</dcterms:modified>
</cp:coreProperties>
</file>